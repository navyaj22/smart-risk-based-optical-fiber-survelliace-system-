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37"/>
  </p:normalViewPr>
  <p:slideViewPr>
    <p:cSldViewPr snapToGrid="0">
      <p:cViewPr varScale="1">
        <p:scale>
          <a:sx n="81" d="100"/>
          <a:sy n="81" d="100"/>
        </p:scale>
        <p:origin x="658"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4B9BB-205C-5857-ED83-D9E57052ECF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A860869-1CBD-2EA3-11BF-4B37AE8321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7558644-1B6F-E7F0-2683-A14BFC72A75C}"/>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4F3E1936-8F3B-DD12-59DD-3BC4A22B8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D1CC9-EBA6-8129-8883-A79FB3BE952E}"/>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295446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F452-F6F0-0083-30DB-3606B317B81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9504A5-EA16-E5FB-32AB-35B43D1F4AA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6EEBB7C-65A2-761A-BC01-6F4B8C64FDA6}"/>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2F4BA6FE-50B4-90DE-786A-F440F0E1F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F9962C-A79F-E785-A022-7CC44EF791E7}"/>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178781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720D8-22C0-5EF9-9660-1A6AED01F75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018A3E5-9DCC-4FF2-8D6B-0EF9F0664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A4A597-F7EE-430B-1461-8D95CB4081A7}"/>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E764B539-5941-7488-93A8-DFBE571D7D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90FE5-723C-AA48-D885-3089EE44C2A6}"/>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384268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7F5B2-0C88-0B6D-7296-D43356E396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66C4DE6-03AE-3AF6-BC8F-D55353CD663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487633E-D03C-A2B0-5165-A81A6E4BA0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342AA6F-6D69-90EB-153F-D3ECEE8B0CA5}"/>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6" name="Footer Placeholder 5">
            <a:extLst>
              <a:ext uri="{FF2B5EF4-FFF2-40B4-BE49-F238E27FC236}">
                <a16:creationId xmlns:a16="http://schemas.microsoft.com/office/drawing/2014/main" id="{1737877B-E95D-E816-AB3A-273274B20F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99B4B5-6AC9-B519-85F4-A60B0AA11D06}"/>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2408553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9B57F-821D-66D3-D7EC-4212A8BD23D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D28BCB3-57E1-FA13-BAD1-A3EBE89786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A165B77-6F7C-3C5E-5A90-96CB1762A64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EC509A1-B14A-348C-5DC4-B5C81B83F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8DA3FFC-EC5A-66C0-4C35-178065EAD0F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4BECAA3-9889-BE78-7161-F539D3253D1C}"/>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8" name="Footer Placeholder 7">
            <a:extLst>
              <a:ext uri="{FF2B5EF4-FFF2-40B4-BE49-F238E27FC236}">
                <a16:creationId xmlns:a16="http://schemas.microsoft.com/office/drawing/2014/main" id="{EBB856BE-C11F-B4F9-AA30-FBA413D642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22653-D54E-92BE-BC5F-A602FF9B6E3B}"/>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1524915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B400-A3FF-9BF3-6025-BC243785019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C9D7A9-AF8C-F3DF-5E80-1B5AC0E4E027}"/>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4" name="Footer Placeholder 3">
            <a:extLst>
              <a:ext uri="{FF2B5EF4-FFF2-40B4-BE49-F238E27FC236}">
                <a16:creationId xmlns:a16="http://schemas.microsoft.com/office/drawing/2014/main" id="{3DED1B06-0189-46D0-092D-282097D218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C647C3-22C7-93B8-640E-B5D7057AD82E}"/>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3921058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AD2ACE-FD86-10C5-550E-6BA48BCD2D7D}"/>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3" name="Footer Placeholder 2">
            <a:extLst>
              <a:ext uri="{FF2B5EF4-FFF2-40B4-BE49-F238E27FC236}">
                <a16:creationId xmlns:a16="http://schemas.microsoft.com/office/drawing/2014/main" id="{53E17C10-8909-878F-D6A6-293C6E05F1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F59A84-923C-B858-E391-59DABEB6AF2B}"/>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1567429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1D7CF-FB59-F3F9-827C-21E46D4BCC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DE2DDA7-BB1F-4797-0376-22C7D38383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6A07632-0F14-B5C9-0E45-2311BEC35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E7AC6F1-496E-7641-9D40-505093CC27F0}"/>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6" name="Footer Placeholder 5">
            <a:extLst>
              <a:ext uri="{FF2B5EF4-FFF2-40B4-BE49-F238E27FC236}">
                <a16:creationId xmlns:a16="http://schemas.microsoft.com/office/drawing/2014/main" id="{DEFF26F0-83E0-DB22-678F-985E210CA3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1E9032-4876-7C14-F4E8-C0EF9AD52739}"/>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784352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3402-A317-BE13-C533-5A7F33F455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F576FE-DBDA-5CEA-AFA5-25EC7C514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DB0EE1-7805-52D7-D05C-A1B1E9C2E9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3B9F69-6F86-F74F-9DF8-13D4D86057FB}"/>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6" name="Footer Placeholder 5">
            <a:extLst>
              <a:ext uri="{FF2B5EF4-FFF2-40B4-BE49-F238E27FC236}">
                <a16:creationId xmlns:a16="http://schemas.microsoft.com/office/drawing/2014/main" id="{1617DAE9-155E-9194-C0A1-CD77AAE8FD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A321F-D6EF-96F3-52E9-E4133E6A1A04}"/>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195482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CC61-CA1A-F3AF-675E-1D89966930B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0EA7A63-9D74-6E3C-2728-B192282780A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F00A2A-730B-CEFF-07F7-678E55E6C442}"/>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1D74167F-CF1A-9629-253C-27790BA25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8B45D-5227-8ECF-F699-969DB437ED17}"/>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334346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E0B36-B63B-E256-36D8-B64EE5EE864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5647AA-4B08-97B0-91D5-9BF59AFECB7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EC2A5E-30A0-EC84-4F5D-56187182B35B}"/>
              </a:ext>
            </a:extLst>
          </p:cNvPr>
          <p:cNvSpPr>
            <a:spLocks noGrp="1"/>
          </p:cNvSpPr>
          <p:nvPr>
            <p:ph type="dt" sz="half" idx="10"/>
          </p:nvPr>
        </p:nvSpPr>
        <p:spPr/>
        <p:txBody>
          <a:body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50F01842-A9EB-63AC-B3E8-00EA1515ED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D2597E-C46A-1097-B51A-101450FABF1B}"/>
              </a:ext>
            </a:extLst>
          </p:cNvPr>
          <p:cNvSpPr>
            <a:spLocks noGrp="1"/>
          </p:cNvSpPr>
          <p:nvPr>
            <p:ph type="sldNum" sz="quarter" idx="12"/>
          </p:nvPr>
        </p:nvSpPr>
        <p:spPr/>
        <p:txBody>
          <a:bodyPr/>
          <a:lstStyle/>
          <a:p>
            <a:fld id="{E9D93C00-B10A-C145-9960-0D6C983DD927}" type="slidenum">
              <a:rPr lang="en-US" smtClean="0"/>
              <a:pPr/>
              <a:t>‹#›</a:t>
            </a:fld>
            <a:endParaRPr lang="en-US"/>
          </a:p>
        </p:txBody>
      </p:sp>
    </p:spTree>
    <p:extLst>
      <p:ext uri="{BB962C8B-B14F-4D97-AF65-F5344CB8AC3E}">
        <p14:creationId xmlns:p14="http://schemas.microsoft.com/office/powerpoint/2010/main" val="961006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FC17DA-D095-E5B0-85D6-58C246689C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67AAAD0-7ACF-309D-EF83-2FF88483A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4F2ED7-4537-16F1-C62C-F48467A341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CDF717-DBCB-D242-A422-C572FDBF5EA6}" type="datetimeFigureOut">
              <a:rPr lang="en-US" smtClean="0"/>
              <a:pPr/>
              <a:t>2/28/2026</a:t>
            </a:fld>
            <a:endParaRPr lang="en-US"/>
          </a:p>
        </p:txBody>
      </p:sp>
      <p:sp>
        <p:nvSpPr>
          <p:cNvPr id="5" name="Footer Placeholder 4">
            <a:extLst>
              <a:ext uri="{FF2B5EF4-FFF2-40B4-BE49-F238E27FC236}">
                <a16:creationId xmlns:a16="http://schemas.microsoft.com/office/drawing/2014/main" id="{9FED2E0A-29C3-C605-F573-D8ABEE058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239DF6-239E-0B2F-79D0-3CCA98DCDA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D93C00-B10A-C145-9960-0D6C983DD927}" type="slidenum">
              <a:rPr lang="en-US" smtClean="0"/>
              <a:pPr/>
              <a:t>‹#›</a:t>
            </a:fld>
            <a:endParaRPr lang="en-US"/>
          </a:p>
        </p:txBody>
      </p:sp>
    </p:spTree>
    <p:extLst>
      <p:ext uri="{BB962C8B-B14F-4D97-AF65-F5344CB8AC3E}">
        <p14:creationId xmlns:p14="http://schemas.microsoft.com/office/powerpoint/2010/main" val="4235746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960" y="-158160"/>
            <a:ext cx="11744960" cy="2387600"/>
          </a:xfrm>
        </p:spPr>
        <p:txBody>
          <a:bodyPr>
            <a:normAutofit/>
          </a:bodyPr>
          <a:lstStyle/>
          <a:p>
            <a:r>
              <a:rPr lang="en-US" dirty="0">
                <a:latin typeface="Times New Roman" pitchFamily="18" charset="0"/>
                <a:cs typeface="Times New Roman" pitchFamily="18" charset="0"/>
              </a:rPr>
              <a:t>TANFINET Hackathon</a:t>
            </a:r>
            <a:br>
              <a:rPr lang="en-US" dirty="0">
                <a:latin typeface="Times New Roman" pitchFamily="18" charset="0"/>
                <a:cs typeface="Times New Roman" pitchFamily="18" charset="0"/>
              </a:rPr>
            </a:br>
            <a:r>
              <a:rPr lang="en-US" sz="3600" dirty="0">
                <a:latin typeface="Times New Roman" pitchFamily="18" charset="0"/>
                <a:cs typeface="Times New Roman" pitchFamily="18" charset="0"/>
              </a:rPr>
              <a:t>Problem 3- Predictive Surveillance of Optical </a:t>
            </a:r>
            <a:r>
              <a:rPr lang="en-US" sz="3600" dirty="0" err="1">
                <a:latin typeface="Times New Roman" pitchFamily="18" charset="0"/>
                <a:cs typeface="Times New Roman" pitchFamily="18" charset="0"/>
              </a:rPr>
              <a:t>Fibre</a:t>
            </a:r>
            <a:r>
              <a:rPr lang="en-US" sz="3600" dirty="0">
                <a:latin typeface="Times New Roman" pitchFamily="18" charset="0"/>
                <a:cs typeface="Times New Roman" pitchFamily="18" charset="0"/>
              </a:rPr>
              <a:t> Routes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a:xfrm>
            <a:off x="1524000" y="2510124"/>
            <a:ext cx="9144000" cy="1260597"/>
          </a:xfrm>
        </p:spPr>
        <p:txBody>
          <a:bodyPr>
            <a:normAutofit/>
          </a:bodyPr>
          <a:lstStyle/>
          <a:p>
            <a:r>
              <a:rPr lang="en-US" dirty="0">
                <a:latin typeface="Times New Roman" pitchFamily="18" charset="0"/>
                <a:cs typeface="Times New Roman" pitchFamily="18" charset="0"/>
              </a:rPr>
              <a:t> Smart Risk-Based Fiber Surveillance Using GIS, Edge AI, Selective Piezo Sensing &amp; LoRa</a:t>
            </a:r>
          </a:p>
          <a:p>
            <a:r>
              <a:rPr lang="en-US" sz="2600" b="1" i="1" dirty="0">
                <a:latin typeface="Times New Roman" pitchFamily="18" charset="0"/>
                <a:cs typeface="Times New Roman" pitchFamily="18" charset="0"/>
              </a:rPr>
              <a:t>Team Interference </a:t>
            </a:r>
          </a:p>
          <a:p>
            <a:endParaRPr lang="en-US" dirty="0"/>
          </a:p>
        </p:txBody>
      </p:sp>
      <p:sp>
        <p:nvSpPr>
          <p:cNvPr id="4" name="TextBox 3">
            <a:extLst>
              <a:ext uri="{FF2B5EF4-FFF2-40B4-BE49-F238E27FC236}">
                <a16:creationId xmlns:a16="http://schemas.microsoft.com/office/drawing/2014/main" id="{A2CFA201-BD00-886A-3E4F-94499FBF2100}"/>
              </a:ext>
            </a:extLst>
          </p:cNvPr>
          <p:cNvSpPr txBox="1"/>
          <p:nvPr/>
        </p:nvSpPr>
        <p:spPr>
          <a:xfrm>
            <a:off x="861506" y="4241800"/>
            <a:ext cx="6089715" cy="1754326"/>
          </a:xfrm>
          <a:prstGeom prst="rect">
            <a:avLst/>
          </a:prstGeom>
          <a:noFill/>
        </p:spPr>
        <p:txBody>
          <a:bodyPr wrap="square" rtlCol="0">
            <a:spAutoFit/>
          </a:bodyPr>
          <a:lstStyle/>
          <a:p>
            <a:r>
              <a:rPr lang="en-US" sz="2000" dirty="0">
                <a:latin typeface="Times New Roman" pitchFamily="18" charset="0"/>
                <a:cs typeface="Times New Roman" pitchFamily="18" charset="0"/>
              </a:rPr>
              <a:t>Gouri </a:t>
            </a:r>
            <a:r>
              <a:rPr lang="en-US" sz="2000" dirty="0" err="1">
                <a:latin typeface="Times New Roman" pitchFamily="18" charset="0"/>
                <a:cs typeface="Times New Roman" pitchFamily="18" charset="0"/>
              </a:rPr>
              <a:t>Manocha</a:t>
            </a:r>
            <a:r>
              <a:rPr lang="en-US" sz="2000" dirty="0">
                <a:latin typeface="Times New Roman" pitchFamily="18" charset="0"/>
                <a:cs typeface="Times New Roman" pitchFamily="18" charset="0"/>
              </a:rPr>
              <a:t>                            RA2311004010355</a:t>
            </a:r>
          </a:p>
          <a:p>
            <a:r>
              <a:rPr lang="en-US" sz="2000" dirty="0">
                <a:latin typeface="Times New Roman" pitchFamily="18" charset="0"/>
                <a:cs typeface="Times New Roman" pitchFamily="18" charset="0"/>
              </a:rPr>
              <a:t>Navya Jain                                    RA2311004010307</a:t>
            </a:r>
          </a:p>
          <a:p>
            <a:r>
              <a:rPr lang="en-US" sz="2000" dirty="0">
                <a:latin typeface="Times New Roman" pitchFamily="18" charset="0"/>
                <a:cs typeface="Times New Roman" pitchFamily="18" charset="0"/>
              </a:rPr>
              <a:t>Aravindhan </a:t>
            </a:r>
            <a:r>
              <a:rPr lang="en-US" sz="2000" dirty="0" err="1">
                <a:latin typeface="Times New Roman" pitchFamily="18" charset="0"/>
                <a:cs typeface="Times New Roman" pitchFamily="18" charset="0"/>
              </a:rPr>
              <a:t>Balamurugan</a:t>
            </a:r>
            <a:r>
              <a:rPr lang="en-US" sz="2000" dirty="0">
                <a:latin typeface="Times New Roman" pitchFamily="18" charset="0"/>
                <a:cs typeface="Times New Roman" pitchFamily="18" charset="0"/>
              </a:rPr>
              <a:t>            RA2311004010348</a:t>
            </a:r>
          </a:p>
          <a:p>
            <a:r>
              <a:rPr lang="en-US" sz="2000" dirty="0">
                <a:latin typeface="Times New Roman" pitchFamily="18" charset="0"/>
                <a:cs typeface="Times New Roman" pitchFamily="18" charset="0"/>
              </a:rPr>
              <a:t>T Ahil </a:t>
            </a:r>
            <a:r>
              <a:rPr lang="en-US" sz="2000" dirty="0" err="1">
                <a:latin typeface="Times New Roman" pitchFamily="18" charset="0"/>
                <a:cs typeface="Times New Roman" pitchFamily="18" charset="0"/>
              </a:rPr>
              <a:t>Adithyaa</a:t>
            </a:r>
            <a:r>
              <a:rPr lang="en-US" sz="2000" dirty="0">
                <a:latin typeface="Times New Roman" pitchFamily="18" charset="0"/>
                <a:cs typeface="Times New Roman" pitchFamily="18" charset="0"/>
              </a:rPr>
              <a:t>                            RA2311004010222</a:t>
            </a:r>
          </a:p>
          <a:p>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Abstract</a:t>
            </a:r>
          </a:p>
        </p:txBody>
      </p:sp>
      <p:sp>
        <p:nvSpPr>
          <p:cNvPr id="3" name="Content Placeholder 2"/>
          <p:cNvSpPr>
            <a:spLocks noGrp="1"/>
          </p:cNvSpPr>
          <p:nvPr>
            <p:ph idx="1"/>
          </p:nvPr>
        </p:nvSpPr>
        <p:spPr>
          <a:xfrm>
            <a:off x="838200" y="1562101"/>
            <a:ext cx="10515600" cy="4597400"/>
          </a:xfrm>
        </p:spPr>
        <p:txBody>
          <a:bodyPr>
            <a:noAutofit/>
          </a:bodyPr>
          <a:lstStyle/>
          <a:p>
            <a:r>
              <a:rPr lang="en-US" sz="2000" dirty="0">
                <a:latin typeface="Times New Roman" pitchFamily="18" charset="0"/>
                <a:cs typeface="Times New Roman" pitchFamily="18" charset="0"/>
              </a:rPr>
              <a:t>Optical fiber routes powering India’s telecom backbone are damaged daily by digging, construction, and accidental interference. Current systems detect failures AFTER the break occurs, causing costly outages. Full solutions like industrial DAS cost Rs25,00,000+ and are not viable for low-budget deployments.</a:t>
            </a:r>
          </a:p>
          <a:p>
            <a:r>
              <a:rPr lang="en-US" sz="2000" dirty="0">
                <a:latin typeface="Times New Roman" pitchFamily="18" charset="0"/>
                <a:cs typeface="Times New Roman" pitchFamily="18" charset="0"/>
              </a:rPr>
              <a:t>It uses GIS + AI to first identify high-risk zones on the fiber route, then deploys low-cost piezo/MEMS vibration sensors ONLY at those critical points, connects them via a LoRa mesh network, and visualizes all threats on a live GIS dashboard in real time.</a:t>
            </a:r>
          </a:p>
          <a:p>
            <a:r>
              <a:rPr lang="en-US" sz="2000" dirty="0">
                <a:latin typeface="Times New Roman" pitchFamily="18" charset="0"/>
                <a:cs typeface="Times New Roman" pitchFamily="18" charset="0"/>
              </a:rPr>
              <a:t>This hybrid approach reduces hardware deployment by 70-90% versus full-route monitoring, brings total PoC cost under Rs.5000, and is fully buildable using off-the-shelf components — while remaining technically credible and scalable to real-world telecom networks.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Problem Statement</a:t>
            </a:r>
          </a:p>
        </p:txBody>
      </p:sp>
      <p:sp>
        <p:nvSpPr>
          <p:cNvPr id="3" name="Content Placeholder 2"/>
          <p:cNvSpPr>
            <a:spLocks noGrp="1"/>
          </p:cNvSpPr>
          <p:nvPr>
            <p:ph idx="1"/>
          </p:nvPr>
        </p:nvSpPr>
        <p:spPr>
          <a:xfrm>
            <a:off x="838200" y="1587500"/>
            <a:ext cx="10515600" cy="4965700"/>
          </a:xfrm>
        </p:spPr>
        <p:txBody>
          <a:bodyPr>
            <a:normAutofit lnSpcReduction="10000"/>
          </a:bodyPr>
          <a:lstStyle/>
          <a:p>
            <a:r>
              <a:rPr lang="en-US" sz="2200" b="1" dirty="0">
                <a:latin typeface="Times New Roman" pitchFamily="18" charset="0"/>
                <a:cs typeface="Times New Roman" pitchFamily="18" charset="0"/>
              </a:rPr>
              <a:t>The Real-World Problem</a:t>
            </a:r>
          </a:p>
          <a:p>
            <a:pPr marL="0" indent="0">
              <a:buNone/>
            </a:pPr>
            <a:r>
              <a:rPr lang="en-US" sz="2200" dirty="0">
                <a:latin typeface="Times New Roman" pitchFamily="18" charset="0"/>
                <a:cs typeface="Times New Roman" pitchFamily="18" charset="0"/>
              </a:rPr>
              <a:t>28% of all fiber outages are caused by third-party damage from digging, unauthorized construction, and accidental interference. Each major cut costs telecom operators Rs. 20-25 lakh in downtime and emergency repairs. India’s BharatNet alone spans 600,000 km of rural fiber — largely unmonitored.</a:t>
            </a:r>
          </a:p>
          <a:p>
            <a:r>
              <a:rPr lang="en-US" sz="2200" b="1" dirty="0">
                <a:latin typeface="Times New Roman" pitchFamily="18" charset="0"/>
                <a:cs typeface="Times New Roman" pitchFamily="18" charset="0"/>
              </a:rPr>
              <a:t>Why Current Solutions Don’t Work:</a:t>
            </a:r>
          </a:p>
          <a:p>
            <a:pPr marL="0" indent="0">
              <a:buNone/>
            </a:pPr>
            <a:r>
              <a:rPr lang="en-US" sz="2200" dirty="0">
                <a:latin typeface="Times New Roman" pitchFamily="18" charset="0"/>
                <a:cs typeface="Times New Roman" pitchFamily="18" charset="0"/>
              </a:rPr>
              <a:t>OTDR alarms fire ONLY after the cable is broken — damage is already done. Full DAS systems cost Rs. 25-80 lakh per unit — unaffordable for most operators. Full-fiber piezo coating is impractical: a 100 km route would require millions of sensors. There is no proactive, affordable system that detects threats before contact.</a:t>
            </a:r>
          </a:p>
          <a:p>
            <a:r>
              <a:rPr lang="en-US" sz="2200" b="1" dirty="0">
                <a:latin typeface="Times New Roman" pitchFamily="18" charset="0"/>
                <a:cs typeface="Times New Roman" pitchFamily="18" charset="0"/>
              </a:rPr>
              <a:t>The Gap We Are Solving:</a:t>
            </a:r>
          </a:p>
          <a:p>
            <a:pPr marL="0" indent="0">
              <a:buNone/>
            </a:pPr>
            <a:r>
              <a:rPr lang="en-US" sz="2200" dirty="0">
                <a:latin typeface="Times New Roman" pitchFamily="18" charset="0"/>
                <a:cs typeface="Times New Roman" pitchFamily="18" charset="0"/>
              </a:rPr>
              <a:t>No affordable, deployable system exists today that: </a:t>
            </a:r>
          </a:p>
          <a:p>
            <a:pPr marL="0" indent="0">
              <a:buNone/>
            </a:pPr>
            <a:r>
              <a:rPr lang="en-US" sz="2200" dirty="0">
                <a:latin typeface="Times New Roman" pitchFamily="18" charset="0"/>
                <a:cs typeface="Times New Roman" pitchFamily="18" charset="0"/>
              </a:rPr>
              <a:t>(1) predicts WHERE on a route damage is most likely, (2) places sensors intelligently only at those spots, and (3) connects and alerts field teams in real time — all at a cost that is actually practical for telecom operators in developing markets.</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Proposed Solution</a:t>
            </a:r>
          </a:p>
        </p:txBody>
      </p:sp>
      <p:sp>
        <p:nvSpPr>
          <p:cNvPr id="3" name="Content Placeholder 2"/>
          <p:cNvSpPr>
            <a:spLocks noGrp="1"/>
          </p:cNvSpPr>
          <p:nvPr>
            <p:ph idx="1"/>
          </p:nvPr>
        </p:nvSpPr>
        <p:spPr>
          <a:xfrm>
            <a:off x="838200" y="1533394"/>
            <a:ext cx="10515600" cy="4351338"/>
          </a:xfrm>
        </p:spPr>
        <p:txBody>
          <a:bodyPr>
            <a:noAutofit/>
          </a:bodyPr>
          <a:lstStyle/>
          <a:p>
            <a:r>
              <a:rPr lang="en-US" sz="1400" b="1" dirty="0">
                <a:latin typeface="Times New Roman" pitchFamily="18" charset="0"/>
                <a:cs typeface="Times New Roman" pitchFamily="18" charset="0"/>
              </a:rPr>
              <a:t>Layer 0 (Free) — Government Data Intelligence:</a:t>
            </a:r>
          </a:p>
          <a:p>
            <a:pPr marL="0" indent="0">
              <a:buNone/>
            </a:pPr>
            <a:r>
              <a:rPr lang="en-US" sz="1400" dirty="0">
                <a:latin typeface="Times New Roman" pitchFamily="18" charset="0"/>
                <a:cs typeface="Times New Roman" pitchFamily="18" charset="0"/>
              </a:rPr>
              <a:t>Pull municipal excavation permits, smart city APIs, and road development plans. If construction is approved near the fiber route, an automatic alert is generated before a single sensor detects anything. Cost = software only. This eliminates the majority of planned-dig threats at zero hardware cost.</a:t>
            </a:r>
          </a:p>
          <a:p>
            <a:r>
              <a:rPr lang="en-US" sz="1400" b="1" dirty="0">
                <a:latin typeface="Times New Roman" pitchFamily="18" charset="0"/>
                <a:cs typeface="Times New Roman" pitchFamily="18" charset="0"/>
              </a:rPr>
              <a:t>Layer 1 — GIS + AI Risk Zone Engine:</a:t>
            </a:r>
          </a:p>
          <a:p>
            <a:pPr marL="0" indent="0">
              <a:buNone/>
            </a:pPr>
            <a:r>
              <a:rPr lang="en-US" sz="1400" dirty="0">
                <a:latin typeface="Times New Roman" pitchFamily="18" charset="0"/>
                <a:cs typeface="Times New Roman" pitchFamily="18" charset="0"/>
              </a:rPr>
              <a:t>GIS maps the entire fiber route. An AI model overlays historical damage data, construction density, soil type, road crossings, metro proximity, and railway crossings to generate a Risk Heat Map. Only the top 10-30% highest-risk zones are flagged for physical sensor deployment — reducing hardware by 70-90%.</a:t>
            </a:r>
          </a:p>
          <a:p>
            <a:r>
              <a:rPr lang="en-US" sz="1400" b="1" dirty="0">
                <a:latin typeface="Times New Roman" pitchFamily="18" charset="0"/>
                <a:cs typeface="Times New Roman" pitchFamily="18" charset="0"/>
              </a:rPr>
              <a:t>Layer 2 — Selective Piezo/MEMS Sensor Nodes :</a:t>
            </a:r>
          </a:p>
          <a:p>
            <a:pPr marL="0" indent="0">
              <a:buNone/>
            </a:pPr>
            <a:r>
              <a:rPr lang="en-US" sz="1400" dirty="0">
                <a:latin typeface="Times New Roman" pitchFamily="18" charset="0"/>
                <a:cs typeface="Times New Roman" pitchFamily="18" charset="0"/>
              </a:rPr>
              <a:t>Low-cost piezo buzzer discs (Rs. 10-30 each) or MEMS accelerometers (MPU6050, Rs. 50-80) are embedded in waterproof casings and buried at GIS-identified high-risk points only. Each node runs a sleep-mode microcontroller that wakes ONLY on vibration threshold breach, giving 1-2 years battery life per node.</a:t>
            </a:r>
          </a:p>
          <a:p>
            <a:r>
              <a:rPr lang="en-US" sz="1400" b="1" dirty="0">
                <a:latin typeface="Times New Roman" pitchFamily="18" charset="0"/>
                <a:cs typeface="Times New Roman" pitchFamily="18" charset="0"/>
              </a:rPr>
              <a:t>Layer 3 — LoRa Mesh Network :</a:t>
            </a:r>
          </a:p>
          <a:p>
            <a:pPr marL="0" indent="0">
              <a:buNone/>
            </a:pPr>
            <a:r>
              <a:rPr lang="en-US" sz="1400" dirty="0">
                <a:latin typeface="Times New Roman" pitchFamily="18" charset="0"/>
                <a:cs typeface="Times New Roman" pitchFamily="18" charset="0"/>
              </a:rPr>
              <a:t>Sensor nodes transmit via LoRa (long range, ultra low power) to a gateway every 2-5 km. No SIM card, no GSM cost, no data plan needed. Multiple sensors share one gateway. Range up to 5-10 km in open terrain and 500m-1km in buried . This alone cuts communication costs by 80% versus GSM-per-sensor models.</a:t>
            </a:r>
          </a:p>
          <a:p>
            <a:r>
              <a:rPr lang="en-US" sz="1400" b="1" dirty="0">
                <a:latin typeface="Times New Roman" pitchFamily="18" charset="0"/>
                <a:cs typeface="Times New Roman" pitchFamily="18" charset="0"/>
              </a:rPr>
              <a:t>Layer 4 — GIS Dashboard :</a:t>
            </a:r>
          </a:p>
          <a:p>
            <a:pPr marL="0" indent="0">
              <a:buNone/>
            </a:pPr>
            <a:r>
              <a:rPr lang="en-US" sz="1400" dirty="0">
                <a:latin typeface="Times New Roman" pitchFamily="18" charset="0"/>
                <a:cs typeface="Times New Roman" pitchFamily="18" charset="0"/>
              </a:rPr>
              <a:t>Gateway sends data to a Laptop/Fast running API edge processor running a CNN-LSTM model that classifies threat type: excavator, drill, heavy vehicle, or footstep. Classified events geo-tagged and plotted live on GIS dashboard. Tiered alerts fire: Level 1 = log, Level 2 = NOC SMS, Level 3 = field crew GPS dispatch with one-tap navigation.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700" y="128358"/>
            <a:ext cx="10515600" cy="1325563"/>
          </a:xfrm>
        </p:spPr>
        <p:txBody>
          <a:bodyPr/>
          <a:lstStyle/>
          <a:p>
            <a:r>
              <a:rPr lang="en-US" dirty="0">
                <a:latin typeface="Times New Roman" pitchFamily="18" charset="0"/>
                <a:cs typeface="Times New Roman" pitchFamily="18" charset="0"/>
              </a:rPr>
              <a:t>Proof of Concept</a:t>
            </a:r>
          </a:p>
        </p:txBody>
      </p:sp>
      <p:sp>
        <p:nvSpPr>
          <p:cNvPr id="3" name="Content Placeholder 2"/>
          <p:cNvSpPr>
            <a:spLocks noGrp="1"/>
          </p:cNvSpPr>
          <p:nvPr>
            <p:ph idx="1"/>
          </p:nvPr>
        </p:nvSpPr>
        <p:spPr>
          <a:xfrm>
            <a:off x="458488" y="1159062"/>
            <a:ext cx="7775411" cy="4351338"/>
          </a:xfrm>
        </p:spPr>
        <p:txBody>
          <a:bodyPr>
            <a:noAutofit/>
          </a:bodyPr>
          <a:lstStyle/>
          <a:p>
            <a:pPr marL="0" indent="0">
              <a:buNone/>
            </a:pPr>
            <a:r>
              <a:rPr lang="en-US" sz="1400" b="1" dirty="0">
                <a:latin typeface="Times New Roman" pitchFamily="18" charset="0"/>
                <a:cs typeface="Times New Roman" pitchFamily="18" charset="0"/>
              </a:rPr>
              <a:t>Total PoC Hardware Cost: Under Rs. 5,000</a:t>
            </a:r>
          </a:p>
          <a:p>
            <a:r>
              <a:rPr lang="en-US" sz="1400" b="1" dirty="0">
                <a:latin typeface="Times New Roman" pitchFamily="18" charset="0"/>
                <a:cs typeface="Times New Roman" pitchFamily="18" charset="0"/>
              </a:rPr>
              <a:t>Hardware Setup:</a:t>
            </a:r>
          </a:p>
          <a:p>
            <a:pPr marL="0" indent="0">
              <a:buNone/>
            </a:pPr>
            <a:r>
              <a:rPr lang="en-US" sz="1400" dirty="0">
                <a:latin typeface="Times New Roman" pitchFamily="18" charset="0"/>
                <a:cs typeface="Times New Roman" pitchFamily="18" charset="0"/>
              </a:rPr>
              <a:t>3 sensor nodes: piezo buzzer disc (Rs. 20) + MPU6050 MEMS accelerometer :1</a:t>
            </a:r>
            <a:r>
              <a:rPr lang="en-US" sz="1400" b="1" dirty="0">
                <a:latin typeface="Times New Roman" pitchFamily="18" charset="0"/>
                <a:cs typeface="Times New Roman" pitchFamily="18" charset="0"/>
              </a:rPr>
              <a:t> </a:t>
            </a:r>
            <a:r>
              <a:rPr lang="en-US" sz="1400" dirty="0">
                <a:latin typeface="Times New Roman" pitchFamily="18" charset="0"/>
                <a:cs typeface="Times New Roman" pitchFamily="18" charset="0"/>
              </a:rPr>
              <a:t>Hz – 1000 Hz (Rs. 60) + STM 32 Blue pill (Rs. 150) + waterproof IP67 casing (Rs. 80) ,</a:t>
            </a:r>
            <a:r>
              <a:rPr lang="en-US" sz="1400" dirty="0" err="1">
                <a:latin typeface="Times New Roman" pitchFamily="18" charset="0"/>
                <a:cs typeface="Times New Roman" pitchFamily="18" charset="0"/>
              </a:rPr>
              <a:t>LoRa</a:t>
            </a:r>
            <a:r>
              <a:rPr lang="en-US" sz="1400" dirty="0">
                <a:latin typeface="Times New Roman" pitchFamily="18" charset="0"/>
                <a:cs typeface="Times New Roman" pitchFamily="18" charset="0"/>
              </a:rPr>
              <a:t> Gateway: </a:t>
            </a:r>
            <a:r>
              <a:rPr lang="en-US" sz="1400" dirty="0" err="1">
                <a:latin typeface="Times New Roman" pitchFamily="18" charset="0"/>
                <a:cs typeface="Times New Roman" pitchFamily="18" charset="0"/>
              </a:rPr>
              <a:t>Heltec</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Wifi</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LoRa</a:t>
            </a:r>
            <a:r>
              <a:rPr lang="en-US" sz="1400" dirty="0">
                <a:latin typeface="Times New Roman" pitchFamily="18" charset="0"/>
                <a:cs typeface="Times New Roman" pitchFamily="18" charset="0"/>
              </a:rPr>
              <a:t> 32 :2.4Ghz(Rs. 1500). Total </a:t>
            </a:r>
            <a:r>
              <a:rPr lang="en-US" sz="1400" dirty="0" err="1">
                <a:latin typeface="Times New Roman" pitchFamily="18" charset="0"/>
                <a:cs typeface="Times New Roman" pitchFamily="18" charset="0"/>
              </a:rPr>
              <a:t>Poc</a:t>
            </a:r>
            <a:r>
              <a:rPr lang="en-US" sz="1400" dirty="0">
                <a:latin typeface="Times New Roman" pitchFamily="18" charset="0"/>
                <a:cs typeface="Times New Roman" pitchFamily="18" charset="0"/>
              </a:rPr>
              <a:t> = Rs.4,130. Node draws ~12µA in deep sleep; wakes to active in &lt;5ms on piezo interrupt.</a:t>
            </a:r>
          </a:p>
          <a:p>
            <a:r>
              <a:rPr lang="en-US" sz="1400" b="1" dirty="0">
                <a:latin typeface="Times New Roman" pitchFamily="18" charset="0"/>
                <a:cs typeface="Times New Roman" pitchFamily="18" charset="0"/>
              </a:rPr>
              <a:t>AI Model — What We are going to Built:</a:t>
            </a:r>
          </a:p>
          <a:p>
            <a:pPr marL="0" indent="0">
              <a:buNone/>
            </a:pPr>
            <a:r>
              <a:rPr lang="en-US" sz="1400" dirty="0">
                <a:latin typeface="Times New Roman" pitchFamily="18" charset="0"/>
                <a:cs typeface="Times New Roman" pitchFamily="18" charset="0"/>
              </a:rPr>
              <a:t>CNN-LSTM model trained on 6 vibration classes: tap (simulates digging), drill simulation, vehicle vibration, footsteps, cable theft (sudden tension + cut pattern), baseline silence. Dataset: public seismic/acoustic datasets + lab-recorded events on a sand tray over buried sensor. Model quantized with TensorFlow Lite. Inference on STM32 Blue Pill + Heltec LoRa V3 receiver (data forwarded to PC via WiFi): under 50ms.</a:t>
            </a:r>
          </a:p>
          <a:p>
            <a:r>
              <a:rPr lang="en-US" sz="1400" b="1" dirty="0">
                <a:latin typeface="Times New Roman" pitchFamily="18" charset="0"/>
                <a:cs typeface="Times New Roman" pitchFamily="18" charset="0"/>
              </a:rPr>
              <a:t>GIS Risk Map Demo:</a:t>
            </a:r>
          </a:p>
          <a:p>
            <a:pPr marL="0" indent="0">
              <a:buNone/>
            </a:pPr>
            <a:r>
              <a:rPr lang="en-US" sz="1400" dirty="0">
                <a:latin typeface="Times New Roman" pitchFamily="18" charset="0"/>
                <a:cs typeface="Times New Roman" pitchFamily="18" charset="0"/>
              </a:rPr>
              <a:t>QGIS used to map a sample 2 km fiber route in our campus area. Historical road-digging records and construction zones overlaid as risk layers. AI model outputs a risk heatmap — 3 high-risk zones identified. Sensor nodes placed only at those 3 points in our physical demo.</a:t>
            </a:r>
          </a:p>
          <a:p>
            <a:r>
              <a:rPr lang="en-US" sz="1400" b="1" dirty="0">
                <a:latin typeface="Times New Roman" pitchFamily="18" charset="0"/>
                <a:cs typeface="Times New Roman" pitchFamily="18" charset="0"/>
              </a:rPr>
              <a:t>Live Dashboard Demo:</a:t>
            </a:r>
          </a:p>
          <a:p>
            <a:pPr marL="0" indent="0">
              <a:buNone/>
            </a:pPr>
            <a:r>
              <a:rPr lang="en-US" sz="1400" dirty="0">
                <a:latin typeface="Times New Roman" pitchFamily="18" charset="0"/>
                <a:cs typeface="Times New Roman" pitchFamily="18" charset="0"/>
              </a:rPr>
              <a:t>React + Leaflet dashboard shows fiber route on real map. When a node detects a threat, a color-coded pin drops on the exact GPS location in real time via WebSocket. Threat type, confidence score, timestamp, and nearest access route shown. Alert pushed simultaneously to a simulated mobile view. Full stack: Python + FastAPI + PostgreSQL/PostGIS + React. </a:t>
            </a:r>
          </a:p>
        </p:txBody>
      </p:sp>
      <p:pic>
        <p:nvPicPr>
          <p:cNvPr id="4" name="Picture 3">
            <a:extLst>
              <a:ext uri="{FF2B5EF4-FFF2-40B4-BE49-F238E27FC236}">
                <a16:creationId xmlns:a16="http://schemas.microsoft.com/office/drawing/2014/main" id="{979D2B55-95BD-41FA-CC13-D6DAAFA7C9B8}"/>
              </a:ext>
            </a:extLst>
          </p:cNvPr>
          <p:cNvPicPr>
            <a:picLocks noChangeAspect="1"/>
          </p:cNvPicPr>
          <p:nvPr/>
        </p:nvPicPr>
        <p:blipFill>
          <a:blip r:embed="rId2"/>
          <a:srcRect l="8578" t="12711" r="2534"/>
          <a:stretch>
            <a:fillRect/>
          </a:stretch>
        </p:blipFill>
        <p:spPr>
          <a:xfrm rot="16200000">
            <a:off x="8817085" y="207931"/>
            <a:ext cx="2525774" cy="3307080"/>
          </a:xfrm>
          <a:prstGeom prst="rect">
            <a:avLst/>
          </a:prstGeom>
        </p:spPr>
      </p:pic>
      <p:pic>
        <p:nvPicPr>
          <p:cNvPr id="5" name="Picture 4">
            <a:extLst>
              <a:ext uri="{FF2B5EF4-FFF2-40B4-BE49-F238E27FC236}">
                <a16:creationId xmlns:a16="http://schemas.microsoft.com/office/drawing/2014/main" id="{E6C24A37-4C02-3B69-6B6E-C938F670DC23}"/>
              </a:ext>
            </a:extLst>
          </p:cNvPr>
          <p:cNvPicPr>
            <a:picLocks noChangeAspect="1"/>
          </p:cNvPicPr>
          <p:nvPr/>
        </p:nvPicPr>
        <p:blipFill>
          <a:blip r:embed="rId3"/>
          <a:stretch>
            <a:fillRect/>
          </a:stretch>
        </p:blipFill>
        <p:spPr>
          <a:xfrm rot="16200000">
            <a:off x="8839817" y="3015615"/>
            <a:ext cx="2480310" cy="3307080"/>
          </a:xfrm>
          <a:prstGeom prst="rect">
            <a:avLst/>
          </a:prstGeom>
        </p:spPr>
      </p:pic>
      <p:sp>
        <p:nvSpPr>
          <p:cNvPr id="6" name="TextBox 5">
            <a:extLst>
              <a:ext uri="{FF2B5EF4-FFF2-40B4-BE49-F238E27FC236}">
                <a16:creationId xmlns:a16="http://schemas.microsoft.com/office/drawing/2014/main" id="{AD63A855-089B-152E-6AFD-D767CDAD92F3}"/>
              </a:ext>
            </a:extLst>
          </p:cNvPr>
          <p:cNvSpPr txBox="1"/>
          <p:nvPr/>
        </p:nvSpPr>
        <p:spPr>
          <a:xfrm>
            <a:off x="8938601" y="5951639"/>
            <a:ext cx="2282741" cy="307777"/>
          </a:xfrm>
          <a:prstGeom prst="rect">
            <a:avLst/>
          </a:prstGeom>
          <a:noFill/>
        </p:spPr>
        <p:txBody>
          <a:bodyPr wrap="none" rtlCol="0">
            <a:spAutoFit/>
          </a:bodyPr>
          <a:lstStyle/>
          <a:p>
            <a:r>
              <a:rPr lang="en-IN" sz="1400" b="1" i="1" dirty="0">
                <a:latin typeface="Times New Roman" panose="02020603050405020304" pitchFamily="18" charset="0"/>
                <a:cs typeface="Times New Roman" panose="02020603050405020304" pitchFamily="18" charset="0"/>
              </a:rPr>
              <a:t>Transmission through LoRa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431"/>
            <a:ext cx="10515600" cy="1325563"/>
          </a:xfrm>
        </p:spPr>
        <p:txBody>
          <a:bodyPr>
            <a:normAutofit/>
          </a:bodyPr>
          <a:lstStyle/>
          <a:p>
            <a:r>
              <a:rPr lang="en-US" dirty="0">
                <a:latin typeface="Times New Roman" pitchFamily="18" charset="0"/>
                <a:cs typeface="Times New Roman" pitchFamily="18" charset="0"/>
              </a:rPr>
              <a:t>MVP Features</a:t>
            </a:r>
          </a:p>
        </p:txBody>
      </p:sp>
      <p:sp>
        <p:nvSpPr>
          <p:cNvPr id="3" name="Content Placeholder 2"/>
          <p:cNvSpPr>
            <a:spLocks noGrp="1"/>
          </p:cNvSpPr>
          <p:nvPr>
            <p:ph idx="1"/>
          </p:nvPr>
        </p:nvSpPr>
        <p:spPr>
          <a:xfrm>
            <a:off x="743932" y="1344858"/>
            <a:ext cx="10515600" cy="4351338"/>
          </a:xfrm>
        </p:spPr>
        <p:txBody>
          <a:bodyPr>
            <a:noAutofit/>
          </a:bodyPr>
          <a:lstStyle/>
          <a:p>
            <a:r>
              <a:rPr lang="en-US" sz="1400" b="1" dirty="0">
                <a:latin typeface="Times New Roman" pitchFamily="18" charset="0"/>
                <a:cs typeface="Times New Roman" pitchFamily="18" charset="0"/>
              </a:rPr>
              <a:t>Feature 1 — GIS Risk Heat Map Generator</a:t>
            </a:r>
          </a:p>
          <a:p>
            <a:pPr marL="0" indent="0">
              <a:buNone/>
            </a:pPr>
            <a:r>
              <a:rPr lang="en-US" sz="1400" dirty="0">
                <a:latin typeface="Times New Roman" pitchFamily="18" charset="0"/>
                <a:cs typeface="Times New Roman" pitchFamily="18" charset="0"/>
              </a:rPr>
              <a:t>AI model overlays construction data, road crossings, railway/metro zones, and historical incidents to rank every segment of the fiber route by damage probability. Outputs a visual heat map. Operators deploy sensors only in red zones, saving 70-90% on hardware.</a:t>
            </a:r>
          </a:p>
          <a:p>
            <a:r>
              <a:rPr lang="en-US" sz="1400" b="1" dirty="0">
                <a:latin typeface="Times New Roman" pitchFamily="18" charset="0"/>
                <a:cs typeface="Times New Roman" pitchFamily="18" charset="0"/>
              </a:rPr>
              <a:t>Feature 2 — Government Permit Alert (Zero Hardware Layer)</a:t>
            </a:r>
          </a:p>
          <a:p>
            <a:pPr marL="0" indent="0">
              <a:buNone/>
            </a:pPr>
            <a:r>
              <a:rPr lang="en-US" sz="1400" dirty="0">
                <a:latin typeface="Times New Roman" pitchFamily="18" charset="0"/>
                <a:cs typeface="Times New Roman" pitchFamily="18" charset="0"/>
              </a:rPr>
              <a:t>API integration with municipal excavation permit systems. When any dig permit is approved within 100m of the fiber route, an automatic alert is generated before physical work begins. This is the cheapest possible threat prevention — purely software, no sensors required.</a:t>
            </a:r>
          </a:p>
          <a:p>
            <a:r>
              <a:rPr lang="en-US" sz="1400" b="1" dirty="0">
                <a:latin typeface="Times New Roman" pitchFamily="18" charset="0"/>
                <a:cs typeface="Times New Roman" pitchFamily="18" charset="0"/>
              </a:rPr>
              <a:t>Feature 3 — Sleep-Mode Sensor Nodes (Rs. 1110/node)</a:t>
            </a:r>
          </a:p>
          <a:p>
            <a:pPr marL="0" indent="0">
              <a:buNone/>
            </a:pPr>
            <a:r>
              <a:rPr lang="en-US" sz="1400" dirty="0">
                <a:latin typeface="Times New Roman" pitchFamily="18" charset="0"/>
                <a:cs typeface="Times New Roman" pitchFamily="18" charset="0"/>
              </a:rPr>
              <a:t>Piezo disc + MPU6050 MEMS sensor encapsulated in waterproof IP67 casing. Microcontroller stays in deep sleep until vibration crosses threshold. Wakes, classifies via onboard Edge AI, and transmits via LoRa only when a real event is detected. Detects: excavator, drilling, heavy vehicle, footstep, and cable theft (sudden tension + cut signature). Battery life: 1-2 years per node.</a:t>
            </a:r>
          </a:p>
          <a:p>
            <a:r>
              <a:rPr lang="en-US" sz="1400" b="1" dirty="0">
                <a:latin typeface="Times New Roman" pitchFamily="18" charset="0"/>
                <a:cs typeface="Times New Roman" pitchFamily="18" charset="0"/>
              </a:rPr>
              <a:t>Feature 4 — LoRa Mesh Network (No SIM Cost)</a:t>
            </a:r>
          </a:p>
          <a:p>
            <a:pPr marL="0" indent="0">
              <a:buNone/>
            </a:pPr>
            <a:r>
              <a:rPr lang="en-US" sz="1400" dirty="0">
                <a:latin typeface="Times New Roman" pitchFamily="18" charset="0"/>
                <a:cs typeface="Times New Roman" pitchFamily="18" charset="0"/>
              </a:rPr>
              <a:t>All sensor nodes connect to shared LoRa gateways (one per 2-5 km). No SIM, no data plan, no monthly telecom cost. Range up to 15 km in open areas. Reduces communication cost by 80% versus a GSM-per-node model. Ideal for rural and semi-urban BharatNet routes.</a:t>
            </a:r>
          </a:p>
          <a:p>
            <a:r>
              <a:rPr lang="en-US" sz="1400" b="1" dirty="0">
                <a:latin typeface="Times New Roman" pitchFamily="18" charset="0"/>
                <a:cs typeface="Times New Roman" pitchFamily="18" charset="0"/>
              </a:rPr>
              <a:t>Feature 5 — Live GIS Dashboard + Tiered Dispatch</a:t>
            </a:r>
          </a:p>
          <a:p>
            <a:pPr marL="0" indent="0">
              <a:buNone/>
            </a:pPr>
            <a:r>
              <a:rPr lang="en-US" sz="1400" dirty="0">
                <a:latin typeface="Times New Roman" pitchFamily="18" charset="0"/>
                <a:cs typeface="Times New Roman" pitchFamily="18" charset="0"/>
              </a:rPr>
              <a:t>Real-time threat pins on interactive map with severity color coding (green/orange/red). Level 1 = auto-log. Level 2 = SMS to NOC. Level 3 = GPS-guided field crew dispatch with one-tap navigation. Historical heatmap identifies recurring risk zones for future sensor redeployment decisions.</a:t>
            </a:r>
          </a:p>
          <a:p>
            <a:r>
              <a:rPr lang="en-US" sz="1400" b="1" dirty="0">
                <a:latin typeface="Times New Roman" pitchFamily="18" charset="0"/>
                <a:cs typeface="Times New Roman" pitchFamily="18" charset="0"/>
              </a:rPr>
              <a:t>Feature 6 — Crowd-Sourced Validation Loop</a:t>
            </a:r>
          </a:p>
          <a:p>
            <a:pPr marL="0" indent="0">
              <a:buNone/>
            </a:pPr>
            <a:r>
              <a:rPr lang="en-US" sz="1400" dirty="0">
                <a:latin typeface="Times New Roman" pitchFamily="18" charset="0"/>
                <a:cs typeface="Times New Roman" pitchFamily="18" charset="0"/>
              </a:rPr>
              <a:t>Field engineers confirm or dismiss alerts via mobile app. Each confirmed event re-trains the AI model, improving accuracy over time. False positive rate reduces progressively — the system gets smarter with every deployment month.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Conclusion and Future Scope</a:t>
            </a:r>
          </a:p>
        </p:txBody>
      </p:sp>
      <p:sp>
        <p:nvSpPr>
          <p:cNvPr id="3" name="Content Placeholder 2"/>
          <p:cNvSpPr>
            <a:spLocks noGrp="1"/>
          </p:cNvSpPr>
          <p:nvPr>
            <p:ph idx="1"/>
          </p:nvPr>
        </p:nvSpPr>
        <p:spPr>
          <a:xfrm>
            <a:off x="838200" y="1676400"/>
            <a:ext cx="10515600" cy="4800599"/>
          </a:xfrm>
        </p:spPr>
        <p:txBody>
          <a:bodyPr>
            <a:normAutofit fontScale="85000" lnSpcReduction="20000"/>
          </a:bodyPr>
          <a:lstStyle/>
          <a:p>
            <a:r>
              <a:rPr lang="en-US" sz="2000" b="1" dirty="0">
                <a:latin typeface="Times New Roman" pitchFamily="18" charset="0"/>
                <a:cs typeface="Times New Roman" pitchFamily="18" charset="0"/>
              </a:rPr>
              <a:t>Why our solution Wins on Every Dimension</a:t>
            </a:r>
          </a:p>
          <a:p>
            <a:r>
              <a:rPr lang="en-US" sz="2000" dirty="0">
                <a:latin typeface="Times New Roman" pitchFamily="18" charset="0"/>
                <a:cs typeface="Times New Roman" pitchFamily="18" charset="0"/>
              </a:rPr>
              <a:t>Cost: Full DAS = Rs. 25-80 lakh. Full piezo coating = impractical.  PoC = Rs. 5,000. Production deployment per km = Rs. 8,000-12,000 (vs. Rs. 80,000+ for industrial alternatives). Scalability: LoRa + selective deployment scales from 5 km pilot to 600,000 km national network. Technical depth: 4-layer architecture covering AI, IoT, GIS, and networking.</a:t>
            </a:r>
          </a:p>
          <a:p>
            <a:r>
              <a:rPr lang="en-US" sz="2000" b="1" dirty="0">
                <a:latin typeface="Times New Roman" pitchFamily="18" charset="0"/>
                <a:cs typeface="Times New Roman" pitchFamily="18" charset="0"/>
              </a:rPr>
              <a:t>Comparison Table: Method vs. Cost vs. Scalability vs. Practicality</a:t>
            </a:r>
          </a:p>
          <a:p>
            <a:r>
              <a:rPr lang="en-US" sz="2000" dirty="0">
                <a:latin typeface="Times New Roman" pitchFamily="18" charset="0"/>
                <a:cs typeface="Times New Roman" pitchFamily="18" charset="0"/>
              </a:rPr>
              <a:t>Full piezo coating: Very High cost , Hard to scale ,Not practical. Full DAS system: Very High cost , Good scale ,Used only in oil/gas. Selective piezo nodes ( Layer 2): Medium cost , Good scale , Practical. GIS predictive model ( Layer 1): Low cost , Excellent scale , Very scalable. Government permit integration ( Layer 0): Zero hardware cost , National scale , Immediately deployable.</a:t>
            </a:r>
          </a:p>
          <a:p>
            <a:r>
              <a:rPr lang="en-US" sz="2000" b="1" dirty="0">
                <a:latin typeface="Times New Roman" pitchFamily="18" charset="0"/>
                <a:cs typeface="Times New Roman" pitchFamily="18" charset="0"/>
              </a:rPr>
              <a:t>Real-World Alignment</a:t>
            </a:r>
          </a:p>
          <a:p>
            <a:r>
              <a:rPr lang="en-US" sz="2000" dirty="0">
                <a:latin typeface="Times New Roman" pitchFamily="18" charset="0"/>
                <a:cs typeface="Times New Roman" pitchFamily="18" charset="0"/>
              </a:rPr>
              <a:t>Directly applicable to BharatNet rural fiber (600,000+ km). Aligns with EU Cable Security Action Plan 2025 which allocated significant funding Rs. 5,500 crore for monitoring technology. Replicable in Southeast Asia and Africa where telecom operators face identical cost constraints.</a:t>
            </a:r>
          </a:p>
          <a:p>
            <a:r>
              <a:rPr lang="en-US" sz="2000" b="1" dirty="0">
                <a:latin typeface="Times New Roman" pitchFamily="18" charset="0"/>
                <a:cs typeface="Times New Roman" pitchFamily="18" charset="0"/>
              </a:rPr>
              <a:t>Phase 2 Roadmap</a:t>
            </a:r>
          </a:p>
          <a:p>
            <a:r>
              <a:rPr lang="en-US" sz="2000" dirty="0">
                <a:latin typeface="Times New Roman" pitchFamily="18" charset="0"/>
                <a:cs typeface="Times New Roman" pitchFamily="18" charset="0"/>
              </a:rPr>
              <a:t>Integrate satellite imagery at flagged coordinates for visual threat confirmation. Add federated learning across operators — models improve without sharing raw data. Add geophone sensors for deeper underground vibration detection. Pilot with a real telecom operator on a 5 km stretch. Explore integration with TRAI’s national fiber monitoring initiative.</a:t>
            </a:r>
          </a:p>
          <a:p>
            <a:r>
              <a:rPr lang="en-US" sz="2000" b="1" dirty="0">
                <a:latin typeface="Times New Roman" pitchFamily="18" charset="0"/>
                <a:cs typeface="Times New Roman" pitchFamily="18" charset="0"/>
              </a:rPr>
              <a:t>The Right Solution at the Right Cost — Smart, Not Expensive</a:t>
            </a:r>
            <a:r>
              <a:rPr lang="en-US" sz="2000" b="1" dirty="0"/>
              <a:t>.</a:t>
            </a:r>
            <a:endParaRPr lang="en-US"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931</TotalTime>
  <Words>1695</Words>
  <Application>Microsoft Office PowerPoint</Application>
  <PresentationFormat>Widescreen</PresentationFormat>
  <Paragraphs>64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TANFINET Hackathon Problem 3- Predictive Surveillance of Optical Fibre Routes</vt:lpstr>
      <vt:lpstr>Abstract</vt:lpstr>
      <vt:lpstr>Problem Statement</vt:lpstr>
      <vt:lpstr>Proposed Solution</vt:lpstr>
      <vt:lpstr>Proof of Concept</vt:lpstr>
      <vt:lpstr>MVP Features</vt:lpstr>
      <vt:lpstr>Conclusion and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TANFINET Hackathon Problem 3- Predictive Surveillance of Optical Fibre Routes</dc:title>
  <dc:creator>Karthick T 101927</dc:creator>
  <cp:lastModifiedBy>Gouri Manocha</cp:lastModifiedBy>
  <cp:revision>45</cp:revision>
  <dcterms:created xsi:type="dcterms:W3CDTF">2025-09-24T03:33:35Z</dcterms:created>
  <dcterms:modified xsi:type="dcterms:W3CDTF">2026-02-28T10:13:18Z</dcterms:modified>
</cp:coreProperties>
</file>